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57432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41414"/>
                </a:solidFill>
              </a:defRPr>
            </a:pPr>
            <a:r>
              <a:t>Synthetic IMTS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1F1F1F"/>
                </a:solidFill>
              </a:defRPr>
            </a:pPr>
            <a:r>
              <a:t>•  3 variates per sample:  v1, v2 ~ sin(2πf·t + φ)   ·   v3 = w·v1 + (1−w)·v2,  w ~ U(0.2, 0.8)</a:t>
            </a:r>
          </a:p>
          <a:p>
            <a:pPr>
              <a:spcAft>
                <a:spcPts val="600"/>
              </a:spcAft>
              <a:defRPr sz="2200">
                <a:solidFill>
                  <a:srgbClr val="1F1F1F"/>
                </a:solidFill>
              </a:defRPr>
            </a:pPr>
            <a:r>
              <a:t>•  Cross-variate info is load-bearing — single-variate models pay for ignoring it</a:t>
            </a:r>
          </a:p>
          <a:p>
            <a:pPr>
              <a:spcAft>
                <a:spcPts val="600"/>
              </a:spcAft>
              <a:defRPr sz="2200">
                <a:solidFill>
                  <a:srgbClr val="1F1F1F"/>
                </a:solidFill>
              </a:defRPr>
            </a:pPr>
            <a:r>
              <a:t>•  120 obs / variate   ·   history = 8.0   ·   forecast = [8, 10]</a:t>
            </a:r>
          </a:p>
          <a:p>
            <a:pPr>
              <a:spcAft>
                <a:spcPts val="600"/>
              </a:spcAft>
              <a:defRPr sz="2200">
                <a:solidFill>
                  <a:srgbClr val="1F1F1F"/>
                </a:solidFill>
              </a:defRPr>
            </a:pPr>
            <a:r>
              <a:t>•  4 irregularity regimes via frac_regular ∈ {1.0, 0.8, 0.3, 0.0}   →   Regular / Low / Med / High</a:t>
            </a:r>
          </a:p>
          <a:p>
            <a:pPr>
              <a:spcAft>
                <a:spcPts val="600"/>
              </a:spcAft>
              <a:defRPr sz="2200">
                <a:solidFill>
                  <a:srgbClr val="1F1F1F"/>
                </a:solidFill>
              </a:defRPr>
            </a:pPr>
            <a:r>
              <a:t>•  Phase 2 — sync timestamps (same ts across variates)</a:t>
            </a:r>
          </a:p>
          <a:p>
            <a:pPr>
              <a:spcAft>
                <a:spcPts val="600"/>
              </a:spcAft>
              <a:defRPr sz="2200">
                <a:solidFill>
                  <a:srgbClr val="1F1F1F"/>
                </a:solidFill>
              </a:defRPr>
            </a:pPr>
            <a:r>
              <a:t>•  Phase 3 — async timestamps (per-variate independent)</a:t>
            </a:r>
          </a:p>
          <a:p>
            <a:pPr>
              <a:spcAft>
                <a:spcPts val="600"/>
              </a:spcAft>
              <a:defRPr sz="2200">
                <a:solidFill>
                  <a:srgbClr val="1F1F1F"/>
                </a:solidFill>
              </a:defRPr>
            </a:pPr>
            <a:r>
              <a:t>•  Phase 4-2 — Phase 3 + random-variate long gap per sample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57432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41414"/>
                </a:solidFill>
              </a:defRPr>
            </a:pPr>
            <a:r>
              <a:t>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1F1F"/>
                </a:solidFill>
              </a:defRPr>
            </a:pPr>
            <a:r>
              <a:t>•  Mamba-MV (ours)  —  multivariate SSM:  per-variate SSM + variable-axis attention + fusion Mamba on shared grid</a:t>
            </a:r>
          </a:p>
          <a:p>
            <a:pPr>
              <a:spcAft>
                <a:spcPts val="600"/>
              </a:spcAft>
              <a:defRPr sz="1600">
                <a:solidFill>
                  <a:srgbClr val="1F1F1F"/>
                </a:solidFill>
              </a:defRPr>
            </a:pPr>
            <a:r>
              <a:t>•       d_model = 256   ·   d_state = 16   ·   3 per-variate + 3 fusion layers   ·   7.79 M params</a:t>
            </a:r>
          </a:p>
          <a:p>
            <a:pPr>
              <a:spcAft>
                <a:spcPts val="600"/>
              </a:spcAft>
              <a:defRPr sz="1600">
                <a:solidFill>
                  <a:srgbClr val="1F1F1F"/>
                </a:solidFill>
              </a:defRPr>
            </a:pPr>
            <a:r>
              <a:t>•       dt_modes:   learned (vanilla Mamba Δ)   /   replace (Δ = Δtrue)</a:t>
            </a:r>
          </a:p>
          <a:p>
            <a:pPr>
              <a:spcAft>
                <a:spcPts val="600"/>
              </a:spcAft>
              <a:defRPr sz="1600">
                <a:solidFill>
                  <a:srgbClr val="1F1F1F"/>
                </a:solidFill>
              </a:defRPr>
            </a:pPr>
            <a:r>
              <a:t>•  S5  (Smith+ ICLR '23)  —  per-variate diagonal SSM, paper-native config</a:t>
            </a:r>
          </a:p>
          <a:p>
            <a:pPr>
              <a:spcAft>
                <a:spcPts val="600"/>
              </a:spcAft>
              <a:defRPr sz="1600">
                <a:solidFill>
                  <a:srgbClr val="1F1F1F"/>
                </a:solidFill>
              </a:defRPr>
            </a:pPr>
            <a:r>
              <a:t>•       d_model = 128   ·   state_dim = 256   ·   6 layers   ·   1.40 M params</a:t>
            </a:r>
          </a:p>
          <a:p>
            <a:pPr>
              <a:spcAft>
                <a:spcPts val="600"/>
              </a:spcAft>
              <a:defRPr sz="1600">
                <a:solidFill>
                  <a:srgbClr val="1F1F1F"/>
                </a:solidFill>
              </a:defRPr>
            </a:pPr>
            <a:r>
              <a:t>•  RoMAE  —  Rotary-PE masked autoencoder (2D positions: timestamp + variate-id)</a:t>
            </a:r>
          </a:p>
          <a:p>
            <a:pPr>
              <a:spcAft>
                <a:spcPts val="600"/>
              </a:spcAft>
              <a:defRPr sz="1600">
                <a:solidFill>
                  <a:srgbClr val="1F1F1F"/>
                </a:solidFill>
              </a:defRPr>
            </a:pPr>
            <a:r>
              <a:t>•       encoder  d=288, 6-head, 7 layers   ·   decoder d=180, 3-head, 2 layers   ·   7.80 M params</a:t>
            </a:r>
          </a:p>
          <a:p>
            <a:pPr>
              <a:spcAft>
                <a:spcPts val="600"/>
              </a:spcAft>
              <a:defRPr sz="1600">
                <a:solidFill>
                  <a:srgbClr val="1F1F1F"/>
                </a:solidFill>
              </a:defRPr>
            </a:pPr>
            <a:r>
              <a:t>•  mTAN — dropped (training collapse across 5 configs)</a:t>
            </a:r>
          </a:p>
          <a:p>
            <a:pPr>
              <a:spcAft>
                <a:spcPts val="600"/>
              </a:spcAft>
              <a:defRPr sz="1600">
                <a:solidFill>
                  <a:srgbClr val="1F1F1F"/>
                </a:solidFill>
              </a:defRPr>
            </a:pPr>
            <a:r>
              <a:t>•  Shared recipe:  AdamW (lr=5e-4 default; S5 overrides to paper-native lr=1e-3)  ·  cosine 100→1600 steps  ·  patience=50  ·  n=5 seeds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57432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41414"/>
                </a:solidFill>
              </a:defRPr>
            </a:pPr>
            <a:r>
              <a:t>Phase 4-2 — async + random-variate long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4300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1F1F"/>
                </a:solidFill>
              </a:defRPr>
            </a:pPr>
            <a:r>
              <a:t>•  Mamba-MV wins 10/12 (regime × freq) cells — multivariate SSM fills the gapped variate from the other two</a:t>
            </a:r>
          </a:p>
          <a:p>
            <a:pPr>
              <a:spcAft>
                <a:spcPts val="600"/>
              </a:spcAft>
              <a:defRPr sz="1600">
                <a:solidFill>
                  <a:srgbClr val="1F1F1F"/>
                </a:solidFill>
              </a:defRPr>
            </a:pPr>
            <a:r>
              <a:t>•  S5 (per-variate) can’t recover the gapped variate — loses across almost all cells</a:t>
            </a:r>
          </a:p>
          <a:p>
            <a:pPr>
              <a:spcAft>
                <a:spcPts val="600"/>
              </a:spcAft>
              <a:defRPr sz="1600">
                <a:solidFill>
                  <a:srgbClr val="1F1F1F"/>
                </a:solidFill>
              </a:defRPr>
            </a:pPr>
            <a:r>
              <a:t>•  Mamba dt_mode:  learned &gt; replace here  (Δtrue spikes near gaps amplified by replace)</a:t>
            </a:r>
          </a:p>
        </p:txBody>
      </p:sp>
      <p:pic>
        <p:nvPicPr>
          <p:cNvPr id="4" name="Picture 3" descr="phase4_2_metric_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011680"/>
            <a:ext cx="5852160" cy="2926080"/>
          </a:xfrm>
          <a:prstGeom prst="rect">
            <a:avLst/>
          </a:prstGeom>
        </p:spPr>
      </p:pic>
      <p:pic>
        <p:nvPicPr>
          <p:cNvPr id="5" name="Picture 4" descr="phase4_2_metric_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011680"/>
            <a:ext cx="5852160" cy="2926080"/>
          </a:xfrm>
          <a:prstGeom prst="rect">
            <a:avLst/>
          </a:prstGeom>
        </p:spPr>
      </p:pic>
      <p:pic>
        <p:nvPicPr>
          <p:cNvPr id="6" name="Picture 5" descr="phase4_2_winner_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0552" y="4892040"/>
            <a:ext cx="7955279" cy="43118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57432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41414"/>
                </a:solidFill>
              </a:defRPr>
            </a:pPr>
            <a:r>
              <a:t>Phase 3 — async dense (per-variate timestamps)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4300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1F1F"/>
                </a:solidFill>
              </a:defRPr>
            </a:pPr>
            <a:r>
              <a:t>•  S5 wins 7/12 cells (all Med/High irreg × all freqs) — HPO gate triggered (Mamba replace loses 3/3 on irregular regimes)</a:t>
            </a:r>
          </a:p>
          <a:p>
            <a:pPr>
              <a:spcAft>
                <a:spcPts val="600"/>
              </a:spcAft>
              <a:defRPr sz="1600">
                <a:solidFill>
                  <a:srgbClr val="1F1F1F"/>
                </a:solidFill>
              </a:defRPr>
            </a:pPr>
            <a:r>
              <a:t>•  Mamba-MV wins only the sync-like Regular column (all 3 freqs) and loses under async irregularity</a:t>
            </a:r>
          </a:p>
          <a:p>
            <a:pPr>
              <a:spcAft>
                <a:spcPts val="600"/>
              </a:spcAft>
              <a:defRPr sz="1600">
                <a:solidFill>
                  <a:srgbClr val="1F1F1F"/>
                </a:solidFill>
              </a:defRPr>
            </a:pPr>
            <a:r>
              <a:t>•  Training time — Mamba ~3.5 min  ·  RoMAE ~3.6 min  ·  S5 ~11 min  (Mamba cheapest by ~3×)</a:t>
            </a:r>
          </a:p>
        </p:txBody>
      </p:sp>
      <p:pic>
        <p:nvPicPr>
          <p:cNvPr id="4" name="Picture 3" descr="phase3_metric_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011680"/>
            <a:ext cx="5852160" cy="2926080"/>
          </a:xfrm>
          <a:prstGeom prst="rect">
            <a:avLst/>
          </a:prstGeom>
        </p:spPr>
      </p:pic>
      <p:pic>
        <p:nvPicPr>
          <p:cNvPr id="5" name="Picture 4" descr="phase3_metric_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011680"/>
            <a:ext cx="5852160" cy="2926080"/>
          </a:xfrm>
          <a:prstGeom prst="rect">
            <a:avLst/>
          </a:prstGeom>
        </p:spPr>
      </p:pic>
      <p:pic>
        <p:nvPicPr>
          <p:cNvPr id="6" name="Picture 5" descr="phase3_winner_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0552" y="4892040"/>
            <a:ext cx="7955279" cy="43118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57432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41414"/>
                </a:solidFill>
              </a:defRPr>
            </a:pPr>
            <a:r>
              <a:t>Phase 2 — sync dense (baseline check)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4300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1F1F"/>
                </a:solidFill>
              </a:defRPr>
            </a:pPr>
            <a:r>
              <a:t>•  Mamba-MV wins the Regular column (all freqs); S5 wins Low+Med; RoMAE wins High</a:t>
            </a:r>
          </a:p>
          <a:p>
            <a:pPr>
              <a:spcAft>
                <a:spcPts val="600"/>
              </a:spcAft>
              <a:defRPr sz="1600">
                <a:solidFill>
                  <a:srgbClr val="1F1F1F"/>
                </a:solidFill>
              </a:defRPr>
            </a:pPr>
            <a:r>
              <a:t>•  Fair-comparison baseline — paper-native S5 + paper-native RoMAE at matched recipe</a:t>
            </a:r>
          </a:p>
        </p:txBody>
      </p:sp>
      <p:pic>
        <p:nvPicPr>
          <p:cNvPr id="4" name="Picture 3" descr="phase2_metric_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011680"/>
            <a:ext cx="5852160" cy="2926080"/>
          </a:xfrm>
          <a:prstGeom prst="rect">
            <a:avLst/>
          </a:prstGeom>
        </p:spPr>
      </p:pic>
      <p:pic>
        <p:nvPicPr>
          <p:cNvPr id="5" name="Picture 4" descr="phase2_metric_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011680"/>
            <a:ext cx="5852160" cy="2926080"/>
          </a:xfrm>
          <a:prstGeom prst="rect">
            <a:avLst/>
          </a:prstGeom>
        </p:spPr>
      </p:pic>
      <p:pic>
        <p:nvPicPr>
          <p:cNvPr id="6" name="Picture 5" descr="phase2_winner_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0552" y="4892040"/>
            <a:ext cx="7955279" cy="43118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57432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41414"/>
                </a:solidFill>
              </a:defRPr>
            </a:pPr>
            <a:r>
              <a:t>Summary — who wins 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48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F1F1F"/>
                </a:solidFill>
              </a:defRPr>
            </a:pPr>
            <a:r>
              <a:t>•  Mamba-MV wins Regular (all phases) AND almost everywhere under gaps (Phase 4-2)</a:t>
            </a:r>
          </a:p>
          <a:p>
            <a:pPr>
              <a:spcAft>
                <a:spcPts val="600"/>
              </a:spcAft>
              <a:defRPr sz="2000">
                <a:solidFill>
                  <a:srgbClr val="1F1F1F"/>
                </a:solidFill>
              </a:defRPr>
            </a:pPr>
            <a:r>
              <a:t>•       →  multivariate-SSM + cross-variate fusion pays off when variates must be combined</a:t>
            </a:r>
          </a:p>
          <a:p>
            <a:pPr>
              <a:spcAft>
                <a:spcPts val="600"/>
              </a:spcAft>
              <a:defRPr sz="2000">
                <a:solidFill>
                  <a:srgbClr val="1F1F1F"/>
                </a:solidFill>
              </a:defRPr>
            </a:pPr>
            <a:r>
              <a:t>•  S5 wins async-no-gap irregularity (Phase 3 Med/High columns, any freq)</a:t>
            </a:r>
          </a:p>
          <a:p>
            <a:pPr>
              <a:spcAft>
                <a:spcPts val="600"/>
              </a:spcAft>
              <a:defRPr sz="2000">
                <a:solidFill>
                  <a:srgbClr val="1F1F1F"/>
                </a:solidFill>
              </a:defRPr>
            </a:pPr>
            <a:r>
              <a:t>•       →  single-variate SSM with paper-native state=256 is a strong forecasting baseline</a:t>
            </a:r>
          </a:p>
          <a:p>
            <a:pPr>
              <a:spcAft>
                <a:spcPts val="600"/>
              </a:spcAft>
              <a:defRPr sz="2000">
                <a:solidFill>
                  <a:srgbClr val="1F1F1F"/>
                </a:solidFill>
              </a:defRPr>
            </a:pPr>
            <a:r>
              <a:t>•  RoMAE wins narrow niches (Phase 2 High, Phase 3 Low irreg at low/mid freq)</a:t>
            </a:r>
          </a:p>
          <a:p>
            <a:pPr>
              <a:spcAft>
                <a:spcPts val="600"/>
              </a:spcAft>
              <a:defRPr sz="2000">
                <a:solidFill>
                  <a:srgbClr val="1F1F1F"/>
                </a:solidFill>
              </a:defRPr>
            </a:pPr>
            <a:r>
              <a:t>•  Next question:  can HPO close the gap on Phase 3 Med/High (where Mamba replace loses 3/3)?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57432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41414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1F1F1F"/>
                </a:solidFill>
              </a:defRPr>
            </a:pPr>
            <a:r>
              <a:t>•  Mamba-MV HPO  —  sweep d_model, d_state, depth, LR (per HPO_PLAN.md, gated on Phase 3 result)</a:t>
            </a:r>
          </a:p>
          <a:p>
            <a:pPr>
              <a:spcAft>
                <a:spcPts val="600"/>
              </a:spcAft>
              <a:defRPr sz="2400">
                <a:solidFill>
                  <a:srgbClr val="1F1F1F"/>
                </a:solidFill>
              </a:defRPr>
            </a:pPr>
            <a:r>
              <a:t>•  Re-evaluate post-HPO on Phase 2 / 3 / 4-2</a:t>
            </a:r>
          </a:p>
          <a:p>
            <a:pPr>
              <a:spcAft>
                <a:spcPts val="600"/>
              </a:spcAft>
              <a:defRPr sz="2400">
                <a:solidFill>
                  <a:srgbClr val="1F1F1F"/>
                </a:solidFill>
              </a:defRPr>
            </a:pPr>
            <a:r>
              <a:t>•  Apply winning config to real IMTS data (astronomy / clinical)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